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1E6B5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6B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F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R&amp;D Spend</c:v>
                  </c:pt>
                  <c:pt idx="1">
                    <c:v>Marketing Spend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0.8038</c:v>
                </c:pt>
                <c:pt idx="1">
                  <c:v>0.0312</c:v>
                </c:pt>
                <c:pt idx="2">
                  <c:v>-0.0679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3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F6B6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5F6B66"/>
                </a:solidFill>
                <a:latin typeface="Arial"/>
              </a:rPr>
              <a:t>Average profit by state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profit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Florida</c:v>
                  </c:pt>
                  <c:pt idx="1">
                    <c:v>New York</c:v>
                  </c:pt>
                  <c:pt idx="2">
                    <c:v>California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118774.02</c:v>
                </c:pt>
                <c:pt idx="1">
                  <c:v>113756.45</c:v>
                </c:pt>
                <c:pt idx="2">
                  <c:v>103905.18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1E6B52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6B52"/>
              </a:solidFill>
              <a:ln w="9525" cap="flat">
                <a:solidFill>
                  <a:srgbClr val="1E6B52"/>
                </a:solidFill>
                <a:prstDash val="solid"/>
                <a:round/>
              </a:ln>
              <a:effectLst/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192261.83</c:v>
                </c:pt>
                <c:pt idx="1">
                  <c:v>191792.06</c:v>
                </c:pt>
                <c:pt idx="2">
                  <c:v>191050.39</c:v>
                </c:pt>
                <c:pt idx="3">
                  <c:v>182901.99</c:v>
                </c:pt>
                <c:pt idx="4">
                  <c:v>166187.94</c:v>
                </c:pt>
                <c:pt idx="5">
                  <c:v>156991.12</c:v>
                </c:pt>
                <c:pt idx="6">
                  <c:v>156122.51</c:v>
                </c:pt>
                <c:pt idx="7">
                  <c:v>155752.6</c:v>
                </c:pt>
                <c:pt idx="8">
                  <c:v>152211.77</c:v>
                </c:pt>
                <c:pt idx="9">
                  <c:v>149759.96</c:v>
                </c:pt>
                <c:pt idx="10">
                  <c:v>146121.95</c:v>
                </c:pt>
                <c:pt idx="11">
                  <c:v>144259.4</c:v>
                </c:pt>
                <c:pt idx="12">
                  <c:v>141585.52</c:v>
                </c:pt>
                <c:pt idx="13">
                  <c:v>134307.35</c:v>
                </c:pt>
                <c:pt idx="14">
                  <c:v>132602.65</c:v>
                </c:pt>
                <c:pt idx="15">
                  <c:v>129917.04</c:v>
                </c:pt>
                <c:pt idx="16">
                  <c:v>126992.93</c:v>
                </c:pt>
                <c:pt idx="17">
                  <c:v>125370.37</c:v>
                </c:pt>
                <c:pt idx="18">
                  <c:v>124266.9</c:v>
                </c:pt>
                <c:pt idx="19">
                  <c:v>122776.86</c:v>
                </c:pt>
                <c:pt idx="20">
                  <c:v>118474.03</c:v>
                </c:pt>
                <c:pt idx="21">
                  <c:v>111313.02</c:v>
                </c:pt>
                <c:pt idx="22">
                  <c:v>110352.25</c:v>
                </c:pt>
                <c:pt idx="23">
                  <c:v>108733.99</c:v>
                </c:pt>
                <c:pt idx="24">
                  <c:v>108552.04</c:v>
                </c:pt>
                <c:pt idx="25">
                  <c:v>107404.34</c:v>
                </c:pt>
                <c:pt idx="26">
                  <c:v>105733.54</c:v>
                </c:pt>
                <c:pt idx="27">
                  <c:v>105008.31</c:v>
                </c:pt>
                <c:pt idx="28">
                  <c:v>103282.38</c:v>
                </c:pt>
                <c:pt idx="29">
                  <c:v>101004.64</c:v>
                </c:pt>
                <c:pt idx="30">
                  <c:v>99937.59</c:v>
                </c:pt>
                <c:pt idx="31">
                  <c:v>97483.56</c:v>
                </c:pt>
                <c:pt idx="32">
                  <c:v>97427.84</c:v>
                </c:pt>
                <c:pt idx="33">
                  <c:v>96778.92</c:v>
                </c:pt>
                <c:pt idx="34">
                  <c:v>96712.8</c:v>
                </c:pt>
                <c:pt idx="35">
                  <c:v>96479.51</c:v>
                </c:pt>
                <c:pt idx="36">
                  <c:v>90708.19</c:v>
                </c:pt>
                <c:pt idx="37">
                  <c:v>89949.14</c:v>
                </c:pt>
                <c:pt idx="38">
                  <c:v>81229.06</c:v>
                </c:pt>
                <c:pt idx="39">
                  <c:v>81005.76</c:v>
                </c:pt>
                <c:pt idx="40">
                  <c:v>78239.91</c:v>
                </c:pt>
                <c:pt idx="41">
                  <c:v>77798.83</c:v>
                </c:pt>
                <c:pt idx="42">
                  <c:v>71498.49</c:v>
                </c:pt>
                <c:pt idx="43">
                  <c:v>69758.98</c:v>
                </c:pt>
                <c:pt idx="44">
                  <c:v>65200.33</c:v>
                </c:pt>
                <c:pt idx="45">
                  <c:v>64926.08</c:v>
                </c:pt>
                <c:pt idx="46">
                  <c:v>49490.75</c:v>
                </c:pt>
                <c:pt idx="47">
                  <c:v>42559.73</c:v>
                </c:pt>
                <c:pt idx="48">
                  <c:v>35673.41</c:v>
                </c:pt>
                <c:pt idx="49">
                  <c:v>14681.4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192416.05</c:v>
                </c:pt>
                <c:pt idx="1">
                  <c:v>188349.66</c:v>
                </c:pt>
                <c:pt idx="2">
                  <c:v>183278.75</c:v>
                </c:pt>
                <c:pt idx="3">
                  <c:v>174025.89</c:v>
                </c:pt>
                <c:pt idx="4">
                  <c:v>173526.31</c:v>
                </c:pt>
                <c:pt idx="5">
                  <c:v>164627.81</c:v>
                </c:pt>
                <c:pt idx="6">
                  <c:v>156263.97</c:v>
                </c:pt>
                <c:pt idx="7">
                  <c:v>159035.48</c:v>
                </c:pt>
                <c:pt idx="8">
                  <c:v>150594.38</c:v>
                </c:pt>
                <c:pt idx="9">
                  <c:v>155351.51</c:v>
                </c:pt>
                <c:pt idx="10">
                  <c:v>135634.27</c:v>
                </c:pt>
                <c:pt idx="11">
                  <c:v>136557.06</c:v>
                </c:pt>
                <c:pt idx="12">
                  <c:v>128674.21</c:v>
                </c:pt>
                <c:pt idx="13">
                  <c:v>126703.03</c:v>
                </c:pt>
                <c:pt idx="14">
                  <c:v>147859.49</c:v>
                </c:pt>
                <c:pt idx="15">
                  <c:v>145972.61</c:v>
                </c:pt>
                <c:pt idx="16">
                  <c:v>116775.76</c:v>
                </c:pt>
                <c:pt idx="17">
                  <c:v>129128.4</c:v>
                </c:pt>
                <c:pt idx="18">
                  <c:v>129275.83</c:v>
                </c:pt>
                <c:pt idx="19">
                  <c:v>113106.15</c:v>
                </c:pt>
                <c:pt idx="20">
                  <c:v>116958.98</c:v>
                </c:pt>
                <c:pt idx="21">
                  <c:v>115998.26</c:v>
                </c:pt>
                <c:pt idx="22">
                  <c:v>114682.8</c:v>
                </c:pt>
                <c:pt idx="23">
                  <c:v>110690.99</c:v>
                </c:pt>
                <c:pt idx="24">
                  <c:v>113645.93</c:v>
                </c:pt>
                <c:pt idx="25">
                  <c:v>100878.46</c:v>
                </c:pt>
                <c:pt idx="26">
                  <c:v>109016.55</c:v>
                </c:pt>
                <c:pt idx="27">
                  <c:v>114378.75</c:v>
                </c:pt>
                <c:pt idx="28">
                  <c:v>98446.89</c:v>
                </c:pt>
                <c:pt idx="29">
                  <c:v>99756.03</c:v>
                </c:pt>
                <c:pt idx="30">
                  <c:v>98893.42</c:v>
                </c:pt>
                <c:pt idx="31">
                  <c:v>95595.19</c:v>
                </c:pt>
                <c:pt idx="32">
                  <c:v>97700.6</c:v>
                </c:pt>
                <c:pt idx="33">
                  <c:v>98381.68</c:v>
                </c:pt>
                <c:pt idx="34">
                  <c:v>87261.82</c:v>
                </c:pt>
                <c:pt idx="35">
                  <c:v>91700.48</c:v>
                </c:pt>
                <c:pt idx="36">
                  <c:v>74763.9</c:v>
                </c:pt>
                <c:pt idx="37">
                  <c:v>92166.27</c:v>
                </c:pt>
                <c:pt idx="38">
                  <c:v>71640.18</c:v>
                </c:pt>
                <c:pt idx="39">
                  <c:v>84894.75</c:v>
                </c:pt>
                <c:pt idx="40">
                  <c:v>74529.68</c:v>
                </c:pt>
                <c:pt idx="41">
                  <c:v>75875.61</c:v>
                </c:pt>
                <c:pt idx="42">
                  <c:v>71163.67</c:v>
                </c:pt>
                <c:pt idx="43">
                  <c:v>58992.23</c:v>
                </c:pt>
                <c:pt idx="44">
                  <c:v>62267.25</c:v>
                </c:pt>
                <c:pt idx="45">
                  <c:v>46501.71</c:v>
                </c:pt>
                <c:pt idx="46">
                  <c:v>56544.23</c:v>
                </c:pt>
                <c:pt idx="47">
                  <c:v>44872.44</c:v>
                </c:pt>
                <c:pt idx="48">
                  <c:v>50992.69</c:v>
                </c:pt>
                <c:pt idx="49">
                  <c:v>47536.54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 fit</c:v>
                </c:pt>
              </c:strCache>
            </c:strRef>
          </c:tx>
          <c:spPr>
            <a:solidFill>
              <a:srgbClr val="B5B5B5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B5B5B5"/>
              </a:solidFill>
              <a:ln w="9525" cap="flat">
                <a:solidFill>
                  <a:srgbClr val="B5B5B5"/>
                </a:solidFill>
                <a:prstDash val="solid"/>
                <a:round/>
              </a:ln>
              <a:effectLst/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192261.83</c:v>
                </c:pt>
                <c:pt idx="1">
                  <c:v>191792.06</c:v>
                </c:pt>
                <c:pt idx="2">
                  <c:v>191050.39</c:v>
                </c:pt>
                <c:pt idx="3">
                  <c:v>182901.99</c:v>
                </c:pt>
                <c:pt idx="4">
                  <c:v>166187.94</c:v>
                </c:pt>
                <c:pt idx="5">
                  <c:v>156991.12</c:v>
                </c:pt>
                <c:pt idx="6">
                  <c:v>156122.51</c:v>
                </c:pt>
                <c:pt idx="7">
                  <c:v>155752.6</c:v>
                </c:pt>
                <c:pt idx="8">
                  <c:v>152211.77</c:v>
                </c:pt>
                <c:pt idx="9">
                  <c:v>149759.96</c:v>
                </c:pt>
                <c:pt idx="10">
                  <c:v>146121.95</c:v>
                </c:pt>
                <c:pt idx="11">
                  <c:v>144259.4</c:v>
                </c:pt>
                <c:pt idx="12">
                  <c:v>141585.52</c:v>
                </c:pt>
                <c:pt idx="13">
                  <c:v>134307.35</c:v>
                </c:pt>
                <c:pt idx="14">
                  <c:v>132602.65</c:v>
                </c:pt>
                <c:pt idx="15">
                  <c:v>129917.04</c:v>
                </c:pt>
                <c:pt idx="16">
                  <c:v>126992.93</c:v>
                </c:pt>
                <c:pt idx="17">
                  <c:v>125370.37</c:v>
                </c:pt>
                <c:pt idx="18">
                  <c:v>124266.9</c:v>
                </c:pt>
                <c:pt idx="19">
                  <c:v>122776.86</c:v>
                </c:pt>
                <c:pt idx="20">
                  <c:v>118474.03</c:v>
                </c:pt>
                <c:pt idx="21">
                  <c:v>111313.02</c:v>
                </c:pt>
                <c:pt idx="22">
                  <c:v>110352.25</c:v>
                </c:pt>
                <c:pt idx="23">
                  <c:v>108733.99</c:v>
                </c:pt>
                <c:pt idx="24">
                  <c:v>108552.04</c:v>
                </c:pt>
                <c:pt idx="25">
                  <c:v>107404.34</c:v>
                </c:pt>
                <c:pt idx="26">
                  <c:v>105733.54</c:v>
                </c:pt>
                <c:pt idx="27">
                  <c:v>105008.31</c:v>
                </c:pt>
                <c:pt idx="28">
                  <c:v>103282.38</c:v>
                </c:pt>
                <c:pt idx="29">
                  <c:v>101004.64</c:v>
                </c:pt>
                <c:pt idx="30">
                  <c:v>99937.59</c:v>
                </c:pt>
                <c:pt idx="31">
                  <c:v>97483.56</c:v>
                </c:pt>
                <c:pt idx="32">
                  <c:v>97427.84</c:v>
                </c:pt>
                <c:pt idx="33">
                  <c:v>96778.92</c:v>
                </c:pt>
                <c:pt idx="34">
                  <c:v>96712.8</c:v>
                </c:pt>
                <c:pt idx="35">
                  <c:v>96479.51</c:v>
                </c:pt>
                <c:pt idx="36">
                  <c:v>90708.19</c:v>
                </c:pt>
                <c:pt idx="37">
                  <c:v>89949.14</c:v>
                </c:pt>
                <c:pt idx="38">
                  <c:v>81229.06</c:v>
                </c:pt>
                <c:pt idx="39">
                  <c:v>81005.76</c:v>
                </c:pt>
                <c:pt idx="40">
                  <c:v>78239.91</c:v>
                </c:pt>
                <c:pt idx="41">
                  <c:v>77798.83</c:v>
                </c:pt>
                <c:pt idx="42">
                  <c:v>71498.49</c:v>
                </c:pt>
                <c:pt idx="43">
                  <c:v>69758.98</c:v>
                </c:pt>
                <c:pt idx="44">
                  <c:v>65200.33</c:v>
                </c:pt>
                <c:pt idx="45">
                  <c:v>64926.08</c:v>
                </c:pt>
                <c:pt idx="46">
                  <c:v>49490.75</c:v>
                </c:pt>
                <c:pt idx="47">
                  <c:v>42559.73</c:v>
                </c:pt>
                <c:pt idx="48">
                  <c:v>35673.41</c:v>
                </c:pt>
                <c:pt idx="49">
                  <c:v>14681.4</c:v>
                </c:pt>
              </c:numCache>
            </c:numRef>
          </c:xVal>
          <c:yVal>
            <c:numRef>
              <c:f>Sheet1!$C$2:$C$51</c:f>
              <c:numCache>
                <c:formatCode>General</c:formatCode>
                <c:ptCount val="50"/>
                <c:pt idx="0">
                  <c:v>192261.83</c:v>
                </c:pt>
                <c:pt idx="1">
                  <c:v>191792.06</c:v>
                </c:pt>
                <c:pt idx="2">
                  <c:v>191050.39</c:v>
                </c:pt>
                <c:pt idx="3">
                  <c:v>182901.99</c:v>
                </c:pt>
                <c:pt idx="4">
                  <c:v>166187.94</c:v>
                </c:pt>
                <c:pt idx="5">
                  <c:v>156991.12</c:v>
                </c:pt>
                <c:pt idx="6">
                  <c:v>156122.51</c:v>
                </c:pt>
                <c:pt idx="7">
                  <c:v>155752.6</c:v>
                </c:pt>
                <c:pt idx="8">
                  <c:v>152211.77</c:v>
                </c:pt>
                <c:pt idx="9">
                  <c:v>149759.96</c:v>
                </c:pt>
                <c:pt idx="10">
                  <c:v>146121.95</c:v>
                </c:pt>
                <c:pt idx="11">
                  <c:v>144259.4</c:v>
                </c:pt>
                <c:pt idx="12">
                  <c:v>141585.52</c:v>
                </c:pt>
                <c:pt idx="13">
                  <c:v>134307.35</c:v>
                </c:pt>
                <c:pt idx="14">
                  <c:v>132602.65</c:v>
                </c:pt>
                <c:pt idx="15">
                  <c:v>129917.04</c:v>
                </c:pt>
                <c:pt idx="16">
                  <c:v>126992.93</c:v>
                </c:pt>
                <c:pt idx="17">
                  <c:v>125370.37</c:v>
                </c:pt>
                <c:pt idx="18">
                  <c:v>124266.9</c:v>
                </c:pt>
                <c:pt idx="19">
                  <c:v>122776.86</c:v>
                </c:pt>
                <c:pt idx="20">
                  <c:v>118474.03</c:v>
                </c:pt>
                <c:pt idx="21">
                  <c:v>111313.02</c:v>
                </c:pt>
                <c:pt idx="22">
                  <c:v>110352.25</c:v>
                </c:pt>
                <c:pt idx="23">
                  <c:v>108733.99</c:v>
                </c:pt>
                <c:pt idx="24">
                  <c:v>108552.04</c:v>
                </c:pt>
                <c:pt idx="25">
                  <c:v>107404.34</c:v>
                </c:pt>
                <c:pt idx="26">
                  <c:v>105733.54</c:v>
                </c:pt>
                <c:pt idx="27">
                  <c:v>105008.31</c:v>
                </c:pt>
                <c:pt idx="28">
                  <c:v>103282.38</c:v>
                </c:pt>
                <c:pt idx="29">
                  <c:v>101004.64</c:v>
                </c:pt>
                <c:pt idx="30">
                  <c:v>99937.59</c:v>
                </c:pt>
                <c:pt idx="31">
                  <c:v>97483.56</c:v>
                </c:pt>
                <c:pt idx="32">
                  <c:v>97427.84</c:v>
                </c:pt>
                <c:pt idx="33">
                  <c:v>96778.92</c:v>
                </c:pt>
                <c:pt idx="34">
                  <c:v>96712.8</c:v>
                </c:pt>
                <c:pt idx="35">
                  <c:v>96479.51</c:v>
                </c:pt>
                <c:pt idx="36">
                  <c:v>90708.19</c:v>
                </c:pt>
                <c:pt idx="37">
                  <c:v>89949.14</c:v>
                </c:pt>
                <c:pt idx="38">
                  <c:v>81229.06</c:v>
                </c:pt>
                <c:pt idx="39">
                  <c:v>81005.76</c:v>
                </c:pt>
                <c:pt idx="40">
                  <c:v>78239.91</c:v>
                </c:pt>
                <c:pt idx="41">
                  <c:v>77798.83</c:v>
                </c:pt>
                <c:pt idx="42">
                  <c:v>71498.49</c:v>
                </c:pt>
                <c:pt idx="43">
                  <c:v>69758.98</c:v>
                </c:pt>
                <c:pt idx="44">
                  <c:v>65200.33</c:v>
                </c:pt>
                <c:pt idx="45">
                  <c:v>64926.08</c:v>
                </c:pt>
                <c:pt idx="46">
                  <c:v>49490.75</c:v>
                </c:pt>
                <c:pt idx="47">
                  <c:v>42559.73</c:v>
                </c:pt>
                <c:pt idx="48">
                  <c:v>35673.41</c:v>
                </c:pt>
                <c:pt idx="49">
                  <c:v>14681.4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00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Actual profit</a:t>
                </a:r>
              </a:p>
            </c:rich>
          </c:tx>
          <c:layout/>
          <c:overlay val="0"/>
        </c:title>
        <c:numFmt formatCode="$#,##0,&quot;K&quot;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200000"/>
          <c:min val="0"/>
        </c:scaling>
        <c:delete val="0"/>
        <c:axPos val="l"/>
        <c:majorGridlines>
          <c:spPr>
            <a:ln w="6350" cap="flat">
              <a:solidFill>
                <a:srgbClr val="E6EC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Predicted profit</a:t>
                </a:r>
              </a:p>
            </c:rich>
          </c:tx>
          <c:layout/>
          <c:overlay val="0"/>
        </c:title>
        <c:numFmt formatCode="$#,##0,&quot;K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Profit Analysis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profit across 50 startups? EDA and multiple linear regression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163A32"/>
          </a:solidFill>
          <a:ln w="9525">
            <a:solidFill>
              <a:srgbClr val="163A3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846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(MySQL) → exported to CSV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startup's profit from how it spends its money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64992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64992" y="16642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variables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81344" y="16642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97696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97696" y="16642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duplicate rows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E3EFE9"/>
          </a:solidFill>
          <a:ln w="9525">
            <a:solidFill>
              <a:srgbClr val="E3EF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343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project_profit_analysis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startup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29768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64992" y="374904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547872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4343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startup_profit_analysis.csv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742432" y="429768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181344" y="374904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64224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364224" y="4343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seaborn,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58784" y="429768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997696" y="374904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80576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180576" y="4343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(.pbix) built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exported file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RD_Spend, Administration, Marketing_Spend, State (target: Profit)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statistics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US dollars, 50 startups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Spend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73,722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45,902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165,349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121,345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51,283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122,700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182,646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Spend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211,025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212,716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471,784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112,013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40,306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107,978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192,262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C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4389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is the biggest budget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marketing spend ($211K) is almost 3× R&amp;D ($74K).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5257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varies a lot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$14.7K to $192.3K, with a spread (std dev) of about $40K.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9360" y="44348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4389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startups spend nothing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marketing both have minimums of $0.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9360" y="530352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and no duplicates, so no cleaning was needed.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 spend moves almost in step with profit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each variable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358556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6309360" cy="3914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554480"/>
            <a:ext cx="4233672" cy="4361688"/>
          </a:xfrm>
          <a:prstGeom prst="roundRect">
            <a:avLst>
              <a:gd name="adj" fmla="val 2160"/>
            </a:avLst>
          </a:prstGeom>
          <a:solidFill>
            <a:srgbClr val="0F2A24"/>
          </a:solidFill>
          <a:ln w="9525">
            <a:solidFill>
              <a:srgbClr val="0F2A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8096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Spend ↔ Profit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8803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↔ Profit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977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3977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↔ Profit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5074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marketing are also linked to each other (0.72), so part of marketing's link to profit is really R&amp;D.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R&amp;D spend, more profit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startup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678775"/>
          </a:xfrm>
          <a:prstGeom prst="roundRect">
            <a:avLst>
              <a:gd name="adj" fmla="val 1954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5760720" cy="42042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73736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16916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straight line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rises steadily as R&amp;D spend rises, with little scatter.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949440" y="30632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01752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driver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alone explains most of the difference in profit (r = 0.97).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949440" y="438912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3434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across the range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the same for low-spend and high-spend startups.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helps; administration barely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profit for the other two budgets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245003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166360" cy="377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9632" y="1508760"/>
            <a:ext cx="5440680" cy="4245003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645920"/>
            <a:ext cx="5166360" cy="3770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upward trend but more scattered (r = 0.75).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199632" y="58064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pattern, dots are spread out (r = 0.20).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by state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17, California 17, Florida 16 startups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678775"/>
          </a:xfrm>
          <a:prstGeom prst="roundRect">
            <a:avLst>
              <a:gd name="adj" fmla="val 1954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5760720" cy="42042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60020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155448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typical profit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profit is roughly $98K–$110K in all three states.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49440" y="2679192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633472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varies most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both the lowest profit (about $15K) and some of the highest.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49440" y="3758184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712464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has outliers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high earners and one low one sit outside its normal range.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49440" y="4837176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9440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4791456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not a strong driver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boxes overlap heavily, so location matters less than spending.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with scikit-learn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(X)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0428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RD_Spend, Administration, Marketing_Spend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6459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05740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30428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74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90448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(40 rows), 20% test (10 rows), random_state = 42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65760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474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90448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LinearRegression, fitted on the training set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3EFE9"/>
          </a:solidFill>
          <a:ln w="9525">
            <a:solidFill>
              <a:srgbClr val="E3EF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" y="4983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Equation: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 = 54,071.88 + 0.8038 × R&amp;D − 0.0679 × Administration + 0.0312 × Marketing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was not used as an input.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extra dollar is worth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profit per $1 of spend, other budgets held constant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69164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6916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78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16459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R&amp;D: +$0.80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$1 of R&amp;D adds about 80 cents of profit.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178040" y="30632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0175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+$0.03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once R&amp;D is accounted for; its effect overlaps with R&amp;D.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78040" y="44348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780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3891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Administration: −$0.07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negative: more overhead does not raise profit.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 is the model?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10 test startups the model had not seen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0F2A24"/>
          </a:solidFill>
          <a:ln w="9525">
            <a:solidFill>
              <a:srgbClr val="0F2A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90% of the variation in profit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64992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$6,979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miss per prediction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81344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$8,996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error, weighting big misses more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97696" y="16459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97696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vs avg profit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$8,996 against average profit of $112,013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3EFE9"/>
          </a:solidFill>
          <a:ln w="9525">
            <a:solidFill>
              <a:srgbClr val="E3EF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4892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fit: the model predicts profit to within about $7K–$9K on average. The test set is small (10 rows), so these numbers could shift with a different split.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profit for new startups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sets of input values from the assignment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194560"/>
                <a:gridCol w="2377440"/>
                <a:gridCol w="24963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Spend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Spend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Profit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21,892.92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81,910.77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164,270.70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71,236.89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23,940.93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96,489.63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137,001.10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71,040.76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0F2A24"/>
          </a:solidFill>
          <a:ln w="9525">
            <a:solidFill>
              <a:srgbClr val="0F2A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3886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$71,237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46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1 predicted profit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36576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0F2A24"/>
          </a:solidFill>
          <a:ln w="9525">
            <a:solidFill>
              <a:srgbClr val="0F2A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74720" y="3886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$71,041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4846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2 predicted profit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6576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they so close?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2 spends $2,048 more on R&amp;D (+$1,646 profit) but $14,579 more on administration (−$990) and $27,270 less on marketing (−$852). The effects nearly cancel out, so both land near $71K, well below the $112K average because R&amp;D is low.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Startup_Profit_Analysis_Dashboard.pbix: one page, 11 visuals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6492240" cy="3651885"/>
          </a:xfrm>
          <a:prstGeom prst="rect">
            <a:avLst/>
          </a:prstGeom>
          <a:solidFill>
            <a:srgbClr val="EEF2F0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76499" y="1801368"/>
            <a:ext cx="3402282" cy="470630"/>
          </a:xfrm>
          <a:prstGeom prst="rect">
            <a:avLst/>
          </a:prstGeom>
          <a:solidFill>
            <a:srgbClr val="0F2A2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76499" y="1801368"/>
            <a:ext cx="3402282" cy="470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banner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76499" y="2384655"/>
            <a:ext cx="638008" cy="475702"/>
          </a:xfrm>
          <a:prstGeom prst="rect">
            <a:avLst/>
          </a:prstGeom>
          <a:solidFill>
            <a:srgbClr val="E9A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76499" y="2384655"/>
            <a:ext cx="638008" cy="47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1083" y="2384655"/>
            <a:ext cx="719161" cy="460486"/>
          </a:xfrm>
          <a:prstGeom prst="rect">
            <a:avLst/>
          </a:prstGeom>
          <a:solidFill>
            <a:srgbClr val="E9A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51083" y="2384655"/>
            <a:ext cx="719161" cy="46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51083" y="2886789"/>
            <a:ext cx="719161" cy="475702"/>
          </a:xfrm>
          <a:prstGeom prst="rect">
            <a:avLst/>
          </a:prstGeom>
          <a:solidFill>
            <a:srgbClr val="E9A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51083" y="2886789"/>
            <a:ext cx="719161" cy="47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76499" y="2896934"/>
            <a:ext cx="638008" cy="460486"/>
          </a:xfrm>
          <a:prstGeom prst="rect">
            <a:avLst/>
          </a:prstGeom>
          <a:solidFill>
            <a:srgbClr val="E9A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76499" y="2896934"/>
            <a:ext cx="638008" cy="46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36504" y="2678835"/>
            <a:ext cx="3168967" cy="911900"/>
          </a:xfrm>
          <a:prstGeom prst="rect">
            <a:avLst/>
          </a:prstGeom>
          <a:solidFill>
            <a:srgbClr val="8FBFA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36504" y="2678835"/>
            <a:ext cx="3168967" cy="91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&amp; profit totals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9581" y="3399068"/>
            <a:ext cx="2119051" cy="952476"/>
          </a:xfrm>
          <a:prstGeom prst="rect">
            <a:avLst/>
          </a:prstGeom>
          <a:solidFill>
            <a:srgbClr val="1E6B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89581" y="3399068"/>
            <a:ext cx="2119051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vs Profit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45207" y="3627311"/>
            <a:ext cx="3265337" cy="724233"/>
          </a:xfrm>
          <a:prstGeom prst="rect">
            <a:avLst/>
          </a:prstGeom>
          <a:solidFill>
            <a:srgbClr val="1E6B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45207" y="3627311"/>
            <a:ext cx="3265337" cy="72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Profit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4388120"/>
            <a:ext cx="1211151" cy="1028557"/>
          </a:xfrm>
          <a:prstGeom prst="rect">
            <a:avLst/>
          </a:prstGeom>
          <a:solidFill>
            <a:srgbClr val="3E8C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388120"/>
            <a:ext cx="1211151" cy="102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97535" y="4388120"/>
            <a:ext cx="2240780" cy="1028557"/>
          </a:xfrm>
          <a:prstGeom prst="rect">
            <a:avLst/>
          </a:prstGeom>
          <a:solidFill>
            <a:srgbClr val="1E6B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97535" y="4388120"/>
            <a:ext cx="2240780" cy="102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vs Profit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4891" y="4388120"/>
            <a:ext cx="2930581" cy="1028557"/>
          </a:xfrm>
          <a:prstGeom prst="rect">
            <a:avLst/>
          </a:prstGeom>
          <a:solidFill>
            <a:srgbClr val="B5651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74891" y="4388120"/>
            <a:ext cx="2930581" cy="102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by State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reproduced from the .pbix file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26680" y="160020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1554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cards show R² 0.90, MAE 6,979, MSE 80.9M and RMSE 8,996.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26680" y="246888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266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2423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profit totals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sums each budget and total profit for all 50 startups.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26680" y="333756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266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3291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profit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scatter plots, one per budget, one dot per startup.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726680" y="42062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26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4160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scatter, using a DAX column with the notebook's equation.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726680" y="507492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266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412480" y="50292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profitability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average profit in each state.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totals and state profitability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from the Power BI data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$3.69M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R&amp;D spend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4612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$6.07M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administration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$10.55M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marketing spend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356616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0F2A24"/>
          </a:solidFill>
          <a:ln w="9525">
            <a:solidFill>
              <a:srgbClr val="0F2A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246120" y="38404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$5.60M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663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600200"/>
            <a:ext cx="5559552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graphicFrame>
        <p:nvGraphicFramePr>
          <p:cNvPr id="17" name="Chart 0" descr=""/>
          <p:cNvGraphicFramePr/>
          <p:nvPr/>
        </p:nvGraphicFramePr>
        <p:xfrm>
          <a:off x="6217920" y="169164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leads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 profit, about $15K ahead of California. In total, startups spent about 1.7 times as much on marketing as on administration, yet profit tracks R&amp;D most closely.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actual vs predicted profit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the regression equation matches all 50 startups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6916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78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16459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fit overall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dots (startups) sit close to the grey diagonal of perfect predictions. Across all 50, R² is 0.95.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78040" y="30632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0175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the test score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view includes the 40 training startups, so it scores above the 0.90 test R².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78040" y="44348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780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3891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miss: startup 50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$0 R&amp;D. Actual profit $14,681 vs predicted $47,537 (over by $32,855).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0F2A24"/>
          </a:solidFill>
          <a:ln w="9525">
            <a:solidFill>
              <a:srgbClr val="0F2A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R&amp;D first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860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strongest profit driver: about $0.80 back for every $1 spent.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169164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51192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marketing as a support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22860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tracks profit, but adds little once R&amp;D is known.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administration lean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262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overhead does not raise profit and slightly lowers 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9632" y="36118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D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9672" y="393192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967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is secondary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45262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ranges overlap across New York, California and Florida.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50 startups, and the model was tested on just 10.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889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not modelled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State as a dummy variable would test whether location matters.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605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inputs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marketing are correlated (0.72), which blurs their separate effects.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41732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significance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statsmodels OLS to get p-values for each coefficient.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28346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78892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validation gives a more reliable accuracy estimate than one split.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16052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data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startups would make the estimates more reliable.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spending is the main driver of startup profit.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built on R&amp;D, administration and marketing spend explains 90% of the variation in profit on unseen data, with an average error of about $7K. Startups that want higher profit should put R&amp;D first, use marketing to support it, and keep overhead in check.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↔ profit correlation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389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test 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4389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$0.80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$1 of R&amp;D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035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Profit Analysis</dc:title>
  <dc:subject>PptxGenJS Presentation</dc:subject>
  <dc:creator>PptxGenJS</dc:creator>
  <cp:lastModifiedBy>PptxGenJS</cp:lastModifiedBy>
  <cp:revision>1</cp:revision>
  <dcterms:created xsi:type="dcterms:W3CDTF">2026-10-01T15:40:00Z</dcterms:created>
  <dcterms:modified xsi:type="dcterms:W3CDTF">2026-10-01T15:40:00Z</dcterms:modified>
</cp:coreProperties>
</file>